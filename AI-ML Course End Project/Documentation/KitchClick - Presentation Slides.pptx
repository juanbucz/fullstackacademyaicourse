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7" r:id="rId3"/>
    <p:sldId id="258" r:id="rId4"/>
    <p:sldId id="262" r:id="rId5"/>
    <p:sldId id="259" r:id="rId6"/>
    <p:sldId id="266" r:id="rId7"/>
    <p:sldId id="269" r:id="rId8"/>
    <p:sldId id="261" r:id="rId9"/>
    <p:sldId id="263" r:id="rId10"/>
    <p:sldId id="260" r:id="rId11"/>
    <p:sldId id="268" r:id="rId12"/>
    <p:sldId id="264" r:id="rId13"/>
    <p:sldId id="271" r:id="rId14"/>
    <p:sldId id="272" r:id="rId15"/>
    <p:sldId id="273" r:id="rId16"/>
    <p:sldId id="270" r:id="rId17"/>
    <p:sldId id="26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81" autoAdjust="0"/>
  </p:normalViewPr>
  <p:slideViewPr>
    <p:cSldViewPr snapToGrid="0">
      <p:cViewPr varScale="1">
        <p:scale>
          <a:sx n="93" d="100"/>
          <a:sy n="93" d="100"/>
        </p:scale>
        <p:origin x="572" y="2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304259-BD59-444D-836B-A0A070B7EF48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A944DE-8E14-433D-BDA2-FE6A60380F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2487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DA16E-7422-1E70-CFE6-E4E27DB6FA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6306F-B481-A155-C85F-FD66119978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D56E7-0028-8705-09FA-3ACE4768F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FA89E-D8BE-4CCA-837E-CFC6A4AEECA5}" type="datetime1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FC1AC-4F1F-C702-B505-A45BC56BB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KitchClick. All rights reserved. Unauthorized use or reproduction is prohibited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01C72-3E09-956C-EC83-90B8BDD7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C6EC0-3617-458E-B418-7454010733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5584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2983E-D48F-FCC2-1F13-B15CFF42D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D5584-47EE-EA2A-ED30-6E0796813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E1FE9-4FF9-8459-0757-CD598D7C8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3FCB4-3FB9-4D4B-8305-7D7E867FB948}" type="datetime1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C182D-23E6-CDB6-BE1C-ABDD0D8D2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KitchClick. All rights reserved. Unauthorized use or reproduction is prohibited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C9F0B-A2C2-19B3-54F2-F2A039D8D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C6EC0-3617-458E-B418-7454010733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6256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90C21-7748-F69C-5A23-81A6F024B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94C9C-D59A-94C4-7F8B-ECBE2D58E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C069F-877B-8DC2-1CA5-378662204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1DC2A-60AB-4B28-A258-6509C2A80948}" type="datetime1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464E8-50BD-28DA-03AB-C0AE98FFF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KitchClick. All rights reserved. Unauthorized use or reproduction is prohibited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A6022-FE09-83A5-1101-763EFF273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C6EC0-3617-458E-B418-7454010733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526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2A22C-F7B9-F1BD-C868-A33DF0825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B5058-4769-2253-2DBC-45721EE2FC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14F83E-30F3-35AF-A989-55F8D9516F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182557-2A8F-10D0-8239-0AA057E5E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706B3-ACC6-4359-8DE7-E0338374B32B}" type="datetime1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9EB35-2047-969E-2B13-47C939BAC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KitchClick. All rights reserved. Unauthorized use or reproduction is prohibited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5C9A23-3FAE-78FE-D2AF-2DDD31166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C6EC0-3617-458E-B418-7454010733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703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916F5-ADB6-849E-1926-E730B6701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C38360-B917-3C7D-22EE-F3143AC12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62BC2-2A1B-04E7-AB9A-E2012DF73B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3A2F82-5485-FA05-614E-BF632FCF3A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549A8C-C1C2-9C1D-285F-A0EC32EC9D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055311-8054-D6A0-23AA-8D1C1FAE2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E1C4F-20BD-4D12-8C05-0C3B0407779D}" type="datetime1">
              <a:rPr lang="en-GB" smtClean="0"/>
              <a:t>20/04/2026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A0DAFA-DCF0-E501-041F-41BA8AA2B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KitchClick. All rights reserved. Unauthorized use or reproduction is prohibited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B146E9-7C4C-F2DB-C40E-4A944BA3D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C6EC0-3617-458E-B418-7454010733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0704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744EE-300E-15F0-1188-84D412FA4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50841F-EEB5-9285-46D6-602FBF8F8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48DCE-D393-4C0C-BFCE-E5E37F9E1DA2}" type="datetime1">
              <a:rPr lang="en-GB" smtClean="0"/>
              <a:t>20/04/2026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E1C8CD-D17E-7203-7B16-60C2834E6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KitchClick. All rights reserved. Unauthorized use or reproduction is prohibited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9F0BC8-E902-91FB-809A-556B438B4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C6EC0-3617-458E-B418-7454010733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6941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CF9BA9-8C9A-ABFF-E05F-3615D0C55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5A1F4-CD4C-4DF0-99BE-2EDA3C8ACADF}" type="datetime1">
              <a:rPr lang="en-GB" smtClean="0"/>
              <a:t>20/04/2026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91E209-2788-F87E-74D7-3C21C202C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KitchClick. All rights reserved. Unauthorized use or reproduction is prohibited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96B24C-B347-1EB7-5704-77BCB9082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C6EC0-3617-458E-B418-7454010733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9225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9EEF0-A65E-86AA-E2BD-22D54E85A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25820-7306-DD24-B176-AF5D99C9C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C5EF3A-8B1C-3424-1D94-E8E6C1C52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D695FB-17C1-6728-D488-ECAB39FCE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7C58E-3DFF-44FC-AF9B-2C68B8647B76}" type="datetime1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15FCC-7347-0A99-D7AC-AFA5CF4CA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KitchClick. All rights reserved. Unauthorized use or reproduction is prohibited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B84551-6899-9946-EF31-C01D4B044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C6EC0-3617-458E-B418-7454010733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5976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BAE35-2D17-A2B0-186B-04635F94F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E02C5F-33DF-5DDC-62A2-CAFEAE590F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BCE79-B699-D120-A3E9-C6386AAA48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D6B427-828C-8AE1-793F-34A507E82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78EF-24CA-45AA-BEF9-D928A44D877D}" type="datetime1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2FD907-CD39-7D0D-AE7E-2331E63F6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KitchClick. All rights reserved. Unauthorized use or reproduction is prohibited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53F437-66DD-1D6B-2150-5C12F20EC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C6EC0-3617-458E-B418-7454010733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2645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7D590-8863-FFF9-5D1E-DB693AE9B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BF4DCE-D658-F0FD-795B-7AB9B18F8F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53BD0-ACC0-AEBD-4B56-D67B88609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7475B-62FB-42F0-AD5A-C671834AFD22}" type="datetime1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A5FD9-2716-2859-1014-57E3DF553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KitchClick. All rights reserved. Unauthorized use or reproduction is prohibited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AFFA8-BE36-0B09-B09C-739892AF5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C6EC0-3617-458E-B418-7454010733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8403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20E29C-3647-2F41-2BF9-4B78DB97E0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BC9887-456E-5D67-757E-348373A8E2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35509-6CF8-56AE-EAD4-30DCEFCCE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4F933-B1B5-401E-90E7-3E65267A03D5}" type="datetime1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82D73-B2B1-A1E9-E572-B8455FCAD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KitchClick. All rights reserved. Unauthorized use or reproduction is prohibited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E5C03-FC02-7185-78CE-40CA5F6B2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C6EC0-3617-458E-B418-7454010733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547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1314D-3549-A59F-8B6F-FC4DD31B9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78855F-E5B4-72BF-9E0C-F731F1438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282B5-5FF6-29C3-46FB-C1C621B63C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B02C44-8BBC-4ACB-92C5-E184B58A7001}" type="datetime1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7A337-FC75-AF66-C421-D31C61C144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© 2026 KitchClick. All rights reserved. Unauthorized use or reproduction is prohibited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CDEF6-CE03-0CF8-F51F-250316E0E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BC6EC0-3617-458E-B418-7454010733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1669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jxb@tiac.net" TargetMode="External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orld.openfoodfacts.org/cgi/search.p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D61FF-31F8-C3C0-DAB6-C10BDCD691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4498" y="5704997"/>
            <a:ext cx="9144000" cy="872345"/>
          </a:xfrm>
        </p:spPr>
        <p:txBody>
          <a:bodyPr>
            <a:normAutofit/>
          </a:bodyPr>
          <a:lstStyle/>
          <a:p>
            <a:r>
              <a:rPr lang="en-US" sz="4200" dirty="0"/>
              <a:t>A Pantry To Table Recipe App</a:t>
            </a:r>
            <a:endParaRPr lang="en-GB" sz="4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4281FA-6B68-2641-2FB5-D9642EC13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620" y="591346"/>
            <a:ext cx="9144001" cy="4991696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51B7D9-DA53-3F71-4382-C02FC8A26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85883" y="6577342"/>
            <a:ext cx="6620233" cy="365125"/>
          </a:xfrm>
        </p:spPr>
        <p:txBody>
          <a:bodyPr/>
          <a:lstStyle/>
          <a:p>
            <a:r>
              <a:rPr lang="en-US" dirty="0"/>
              <a:t>© 2026 </a:t>
            </a:r>
            <a:r>
              <a:rPr lang="en-US" dirty="0" err="1"/>
              <a:t>KitchClick</a:t>
            </a:r>
            <a:r>
              <a:rPr lang="en-US" dirty="0"/>
              <a:t>. All rights reserved. Unauthorized use or reproduction is prohibited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1947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575A102-D95D-4D6E-8F1B-49EED0AEC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12C29E-CABB-5362-7691-55985D2CE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344" y="954038"/>
            <a:ext cx="5387635" cy="12357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Who am I?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6ED154-D44E-7402-34B6-5733A82B4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3104" y="6360054"/>
            <a:ext cx="459669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9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© 2026 </a:t>
            </a:r>
            <a:r>
              <a:rPr lang="en-US" sz="9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KitchClick</a:t>
            </a:r>
            <a:r>
              <a:rPr lang="en-US" sz="9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. All rights reserved. Unauthorized use or reproduction is prohibited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B8A624C-FEE3-20BD-DE83-D2D65EB7E2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1979" y="676661"/>
            <a:ext cx="5895142" cy="4912619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CF0FFF1F-79B6-4A13-A464-070CD6F89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42198" y="814999"/>
            <a:ext cx="465458" cy="581435"/>
            <a:chOff x="10942198" y="814999"/>
            <a:chExt cx="465458" cy="581435"/>
          </a:xfrm>
          <a:solidFill>
            <a:srgbClr val="FFFFFF"/>
          </a:solidFill>
        </p:grpSpPr>
        <p:sp>
          <p:nvSpPr>
            <p:cNvPr id="16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7738" y="81499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7" name="Graphic 15">
              <a:extLst>
                <a:ext uri="{FF2B5EF4-FFF2-40B4-BE49-F238E27FC236}">
                  <a16:creationId xmlns:a16="http://schemas.microsoft.com/office/drawing/2014/main" id="{8550FED7-7C32-42BB-98DB-30272A633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16518" y="104429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grpFill/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2198" y="1268720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29322" y="6274341"/>
            <a:ext cx="11353800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09E0630F-EF77-4C60-9202-F1F72CE6BAFB}"/>
              </a:ext>
            </a:extLst>
          </p:cNvPr>
          <p:cNvSpPr txBox="1">
            <a:spLocks/>
          </p:cNvSpPr>
          <p:nvPr/>
        </p:nvSpPr>
        <p:spPr>
          <a:xfrm>
            <a:off x="829322" y="2394894"/>
            <a:ext cx="5265467" cy="367434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300" dirty="0">
                <a:solidFill>
                  <a:srgbClr val="FFFFFF"/>
                </a:solidFill>
              </a:rPr>
              <a:t>John Buczkowski</a:t>
            </a:r>
          </a:p>
          <a:p>
            <a:pPr algn="ctr"/>
            <a:r>
              <a:rPr lang="en-US" sz="4300" dirty="0" err="1">
                <a:solidFill>
                  <a:srgbClr val="FFFFFF"/>
                </a:solidFill>
              </a:rPr>
              <a:t>CoffeeStain</a:t>
            </a:r>
            <a:r>
              <a:rPr lang="en-US" sz="4300" dirty="0">
                <a:solidFill>
                  <a:srgbClr val="FFFFFF"/>
                </a:solidFill>
              </a:rPr>
              <a:t> Consulting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sz="4300" dirty="0">
                <a:solidFill>
                  <a:srgbClr val="FFFFFF"/>
                </a:solidFill>
              </a:rPr>
              <a:t>Boston, MA</a:t>
            </a:r>
          </a:p>
          <a:p>
            <a:pPr algn="ctr">
              <a:spcBef>
                <a:spcPts val="600"/>
              </a:spcBef>
            </a:pPr>
            <a:endParaRPr lang="en-US" sz="1900" dirty="0">
              <a:solidFill>
                <a:srgbClr val="FFFFFF"/>
              </a:solidFill>
            </a:endParaRPr>
          </a:p>
          <a:p>
            <a:pPr algn="ctr"/>
            <a:r>
              <a:rPr lang="en-US" sz="3000" dirty="0">
                <a:solidFill>
                  <a:srgbClr val="FFFFFF"/>
                </a:solidFill>
              </a:rPr>
              <a:t>Senior Software Consultant</a:t>
            </a:r>
          </a:p>
          <a:p>
            <a:pPr algn="ctr"/>
            <a:r>
              <a:rPr lang="en-US" sz="2200" dirty="0">
                <a:solidFill>
                  <a:srgbClr val="FFFFFF"/>
                </a:solidFill>
              </a:rPr>
              <a:t>Over 40 Years of Industry Experience</a:t>
            </a:r>
          </a:p>
          <a:p>
            <a:pPr algn="ctr"/>
            <a:endParaRPr lang="en-US" sz="4800" dirty="0">
              <a:solidFill>
                <a:srgbClr val="FFFFFF"/>
              </a:solidFill>
            </a:endParaRPr>
          </a:p>
          <a:p>
            <a:pPr algn="ctr"/>
            <a:r>
              <a:rPr lang="en-US" sz="2200" dirty="0">
                <a:solidFill>
                  <a:srgbClr val="FFFFFF"/>
                </a:solidFill>
                <a:hlinkClick r:id="rId3"/>
              </a:rPr>
              <a:t>jxb@tiac.net</a:t>
            </a:r>
            <a:endParaRPr lang="en-US" sz="2200" dirty="0">
              <a:solidFill>
                <a:srgbClr val="FFFFFF"/>
              </a:solidFill>
            </a:endParaRPr>
          </a:p>
          <a:p>
            <a:pPr algn="ctr"/>
            <a:r>
              <a:rPr lang="en-US" sz="2200" dirty="0">
                <a:solidFill>
                  <a:srgbClr val="FFFFFF"/>
                </a:solidFill>
              </a:rPr>
              <a:t>617-435-8115</a:t>
            </a:r>
          </a:p>
          <a:p>
            <a:pPr algn="ctr"/>
            <a:r>
              <a:rPr lang="en-US" sz="2200" dirty="0">
                <a:solidFill>
                  <a:srgbClr val="FFFFFF"/>
                </a:solidFill>
              </a:rPr>
              <a:t>www.linkedin.com/in/johnbuczkowski</a:t>
            </a:r>
          </a:p>
        </p:txBody>
      </p:sp>
    </p:spTree>
    <p:extLst>
      <p:ext uri="{BB962C8B-B14F-4D97-AF65-F5344CB8AC3E}">
        <p14:creationId xmlns:p14="http://schemas.microsoft.com/office/powerpoint/2010/main" val="2758421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A26AE-FE1A-2C76-424E-2ED51B7C3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KitchClick</a:t>
            </a:r>
            <a:r>
              <a:rPr lang="en-US" dirty="0"/>
              <a:t> – What is it?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31657F-83A0-2A74-F2B9-70D20F787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3158" y="6547768"/>
            <a:ext cx="8552734" cy="365125"/>
          </a:xfrm>
        </p:spPr>
        <p:txBody>
          <a:bodyPr/>
          <a:lstStyle/>
          <a:p>
            <a:r>
              <a:rPr lang="en-US" dirty="0"/>
              <a:t>© 2026 </a:t>
            </a:r>
            <a:r>
              <a:rPr lang="en-US" dirty="0" err="1"/>
              <a:t>KitchClick</a:t>
            </a:r>
            <a:r>
              <a:rPr lang="en-US" dirty="0"/>
              <a:t>. All rights reserved. Unauthorized use or reproduction is prohibited</a:t>
            </a:r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ACB2CFB-C288-9226-85EC-096C11AAA4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34945" y="6426236"/>
            <a:ext cx="557055" cy="30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039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2EB2B-3ABC-1171-2C49-2CF46E039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3832"/>
          </a:xfrm>
        </p:spPr>
        <p:txBody>
          <a:bodyPr/>
          <a:lstStyle/>
          <a:p>
            <a:pPr algn="ctr"/>
            <a:r>
              <a:rPr lang="en-US" dirty="0"/>
              <a:t>Architectural Overview</a:t>
            </a:r>
            <a:endParaRPr lang="en-GB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64B1F21-70BA-9716-9C71-E1E7E936A8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0830" y="1504053"/>
            <a:ext cx="7384323" cy="4918075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0F8B177-E54B-1123-8C74-B0B5B3227566}"/>
              </a:ext>
            </a:extLst>
          </p:cNvPr>
          <p:cNvCxnSpPr/>
          <p:nvPr/>
        </p:nvCxnSpPr>
        <p:spPr>
          <a:xfrm flipH="1">
            <a:off x="2557670" y="2140226"/>
            <a:ext cx="6427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D9060B3-6266-C54D-51B7-324E4AF1B07F}"/>
              </a:ext>
            </a:extLst>
          </p:cNvPr>
          <p:cNvCxnSpPr>
            <a:cxnSpLocks/>
          </p:cNvCxnSpPr>
          <p:nvPr/>
        </p:nvCxnSpPr>
        <p:spPr>
          <a:xfrm>
            <a:off x="2557670" y="2140226"/>
            <a:ext cx="0" cy="22462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D8419C6-13A1-A06E-389D-0CF6F26C8F38}"/>
              </a:ext>
            </a:extLst>
          </p:cNvPr>
          <p:cNvCxnSpPr/>
          <p:nvPr/>
        </p:nvCxnSpPr>
        <p:spPr>
          <a:xfrm>
            <a:off x="2557670" y="4373218"/>
            <a:ext cx="2584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AF42F19-2C09-09DA-11D9-C10F7F03A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3831" y="6554751"/>
            <a:ext cx="6303969" cy="365125"/>
          </a:xfrm>
        </p:spPr>
        <p:txBody>
          <a:bodyPr/>
          <a:lstStyle/>
          <a:p>
            <a:r>
              <a:rPr lang="en-US" dirty="0"/>
              <a:t>© 2026 </a:t>
            </a:r>
            <a:r>
              <a:rPr lang="en-US" dirty="0" err="1"/>
              <a:t>KitchClick</a:t>
            </a:r>
            <a:r>
              <a:rPr lang="en-US" dirty="0"/>
              <a:t>. All rights reserved. Unauthorized use or reproduction is prohibited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1052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91A3E-CCB8-9663-06C2-E2746C463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817" y="79513"/>
            <a:ext cx="10515600" cy="854765"/>
          </a:xfrm>
        </p:spPr>
        <p:txBody>
          <a:bodyPr/>
          <a:lstStyle/>
          <a:p>
            <a:pPr algn="ctr"/>
            <a:r>
              <a:rPr lang="en-US" dirty="0"/>
              <a:t>Architectural Details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A0229-DD37-AD24-4503-631A7B8D4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4887"/>
            <a:ext cx="10515600" cy="5804451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89D40B-3FF2-F33F-6701-CD7AA99EA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11952" y="6363226"/>
            <a:ext cx="6022092" cy="365125"/>
          </a:xfrm>
        </p:spPr>
        <p:txBody>
          <a:bodyPr/>
          <a:lstStyle/>
          <a:p>
            <a:r>
              <a:rPr lang="en-US" dirty="0"/>
              <a:t>© 2026 </a:t>
            </a:r>
            <a:r>
              <a:rPr lang="en-US" dirty="0" err="1"/>
              <a:t>KitchClick</a:t>
            </a:r>
            <a:r>
              <a:rPr lang="en-US" dirty="0"/>
              <a:t>. All rights reserved. Unauthorized use or reproduction is prohibited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241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84A7C-45D4-AD9C-31E2-0F71129E7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Models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C1718-B62B-2091-464D-C9A1E588B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540"/>
            <a:ext cx="10515600" cy="471942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YoloV8M – 1 stop shopping. automatically generates plots, </a:t>
            </a:r>
          </a:p>
          <a:p>
            <a:endParaRPr lang="en-US" dirty="0"/>
          </a:p>
          <a:p>
            <a:r>
              <a:rPr lang="en-US" dirty="0"/>
              <a:t>EasyOCR</a:t>
            </a:r>
          </a:p>
          <a:p>
            <a:r>
              <a:rPr lang="en-GB" dirty="0"/>
              <a:t>qwen2.5:14b</a:t>
            </a:r>
            <a:endParaRPr lang="en-US" dirty="0"/>
          </a:p>
          <a:p>
            <a:r>
              <a:rPr lang="en-GB" dirty="0"/>
              <a:t>qwen2.5:7b</a:t>
            </a:r>
          </a:p>
          <a:p>
            <a:endParaRPr lang="en-GB" dirty="0"/>
          </a:p>
          <a:p>
            <a:r>
              <a:rPr lang="en-GB" dirty="0"/>
              <a:t>Hardware:</a:t>
            </a:r>
          </a:p>
          <a:p>
            <a:pPr lvl="1"/>
            <a:r>
              <a:rPr lang="en-GB" b="1" dirty="0"/>
              <a:t>GPU:</a:t>
            </a:r>
            <a:r>
              <a:rPr lang="en-GB" dirty="0"/>
              <a:t> NVIDIA Blackwell-architecture GPU.</a:t>
            </a:r>
          </a:p>
          <a:p>
            <a:pPr lvl="1"/>
            <a:r>
              <a:rPr lang="en-GB" b="1" dirty="0"/>
              <a:t>VRAM:</a:t>
            </a:r>
            <a:r>
              <a:rPr lang="en-GB" dirty="0"/>
              <a:t> 28GB.</a:t>
            </a:r>
          </a:p>
          <a:p>
            <a:pPr lvl="1"/>
            <a:r>
              <a:rPr lang="en-GB" b="1" dirty="0"/>
              <a:t>Technology:</a:t>
            </a:r>
            <a:r>
              <a:rPr lang="en-GB" dirty="0"/>
              <a:t> Lovelace (RTX 40-series).</a:t>
            </a:r>
          </a:p>
          <a:p>
            <a:pPr lvl="1"/>
            <a:endParaRPr lang="en-GB" dirty="0"/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F3D569-143E-751B-C1D7-63C1856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13810" y="6548855"/>
            <a:ext cx="6475854" cy="365125"/>
          </a:xfrm>
        </p:spPr>
        <p:txBody>
          <a:bodyPr/>
          <a:lstStyle/>
          <a:p>
            <a:r>
              <a:rPr lang="en-US"/>
              <a:t>© 2026 KitchClick. All rights reserved. Unauthorized use or reproduction is prohibited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0927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BE963-10B5-61CB-DD4A-C958D9673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Performance</a:t>
            </a:r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24EE0B0-0254-B9D8-655E-468B7B252A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4395" y="1825625"/>
            <a:ext cx="10443210" cy="435133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D392DD-24AA-88AA-851F-EF415B17B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KitchClick. All rights reserved. Unauthorized use or reproduction is prohibited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1751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F158C-2AA9-B971-8B0A-6E5709F53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116" y="16196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The </a:t>
            </a:r>
            <a:r>
              <a:rPr lang="en-US" dirty="0" err="1"/>
              <a:t>KitchClick</a:t>
            </a:r>
            <a:r>
              <a:rPr lang="en-US" dirty="0"/>
              <a:t> Application</a:t>
            </a:r>
            <a:endParaRPr lang="en-GB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F454FE4-D5FC-52B2-C489-F5EF763EB6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2038" y="1487527"/>
            <a:ext cx="5475756" cy="490718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771307-6A8A-5EAC-6156-5AB7FB1B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95074" y="6548856"/>
            <a:ext cx="6152720" cy="365125"/>
          </a:xfrm>
        </p:spPr>
        <p:txBody>
          <a:bodyPr/>
          <a:lstStyle/>
          <a:p>
            <a:r>
              <a:rPr lang="en-US" dirty="0"/>
              <a:t>© 2026 </a:t>
            </a:r>
            <a:r>
              <a:rPr lang="en-US" dirty="0" err="1"/>
              <a:t>KitchClick</a:t>
            </a:r>
            <a:r>
              <a:rPr lang="en-US" dirty="0"/>
              <a:t>. All rights reserved. Unauthorized use or reproduction is prohibited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8255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D0450-D7A3-C797-9069-49F7F18E9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381"/>
            <a:ext cx="10515600" cy="1078796"/>
          </a:xfrm>
        </p:spPr>
        <p:txBody>
          <a:bodyPr/>
          <a:lstStyle/>
          <a:p>
            <a:pPr algn="ctr"/>
            <a:r>
              <a:rPr lang="en-US" dirty="0"/>
              <a:t>Image Data Sources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1E1E3-2D47-B235-E0A8-73C3CFB9B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1238"/>
            <a:ext cx="10515600" cy="3392643"/>
          </a:xfrm>
        </p:spPr>
        <p:txBody>
          <a:bodyPr/>
          <a:lstStyle/>
          <a:p>
            <a:r>
              <a:rPr lang="en-US" sz="2400" b="1" dirty="0"/>
              <a:t>Data Sources for Unlabeled Ingredient Images</a:t>
            </a:r>
          </a:p>
          <a:p>
            <a:pPr>
              <a:spcBef>
                <a:spcPts val="400"/>
              </a:spcBef>
            </a:pPr>
            <a:r>
              <a:rPr lang="en-GB" sz="1400" dirty="0"/>
              <a:t>vegetables/vegetables-el4g6				version:1</a:t>
            </a:r>
          </a:p>
          <a:p>
            <a:pPr>
              <a:spcBef>
                <a:spcPts val="400"/>
              </a:spcBef>
            </a:pPr>
            <a:r>
              <a:rPr lang="en-GB" sz="1400" dirty="0" err="1"/>
              <a:t>sqdq</a:t>
            </a:r>
            <a:r>
              <a:rPr lang="en-GB" sz="1400" dirty="0"/>
              <a:t>/fruits-and-vegetables-</a:t>
            </a:r>
            <a:r>
              <a:rPr lang="en-GB" sz="1400" dirty="0" err="1"/>
              <a:t>qlxmk</a:t>
            </a:r>
            <a:r>
              <a:rPr lang="en-GB" sz="1400" dirty="0"/>
              <a:t>			version:1</a:t>
            </a:r>
          </a:p>
          <a:p>
            <a:pPr>
              <a:spcBef>
                <a:spcPts val="400"/>
              </a:spcBef>
            </a:pPr>
            <a:r>
              <a:rPr lang="en-GB" sz="1400" dirty="0" err="1"/>
              <a:t>zzigmug</a:t>
            </a:r>
            <a:r>
              <a:rPr lang="en-GB" sz="1400" dirty="0"/>
              <a:t>/fruits-and-vegetables-</a:t>
            </a:r>
            <a:r>
              <a:rPr lang="en-GB" sz="1400" dirty="0" err="1"/>
              <a:t>knetf</a:t>
            </a:r>
            <a:r>
              <a:rPr lang="en-GB" sz="1400" dirty="0"/>
              <a:t>  			version:1</a:t>
            </a:r>
          </a:p>
          <a:p>
            <a:pPr>
              <a:spcBef>
                <a:spcPts val="400"/>
              </a:spcBef>
            </a:pPr>
            <a:r>
              <a:rPr lang="en-GB" sz="1400" dirty="0" err="1"/>
              <a:t>yaman</a:t>
            </a:r>
            <a:r>
              <a:rPr lang="en-GB" sz="1400" dirty="0"/>
              <a:t>-e/food-ingredients-detection-qfit7			version:48 </a:t>
            </a:r>
          </a:p>
          <a:p>
            <a:pPr>
              <a:spcBef>
                <a:spcPts val="400"/>
              </a:spcBef>
            </a:pPr>
            <a:r>
              <a:rPr lang="en-GB" sz="1400" dirty="0" err="1"/>
              <a:t>lhu-dqyuc</a:t>
            </a:r>
            <a:r>
              <a:rPr lang="en-GB" sz="1400" dirty="0"/>
              <a:t>/fruits-and-vegetables-</a:t>
            </a:r>
            <a:r>
              <a:rPr lang="en-GB" sz="1400" dirty="0" err="1"/>
              <a:t>mfsau</a:t>
            </a:r>
            <a:r>
              <a:rPr lang="en-GB" sz="1400" dirty="0"/>
              <a:t>			version:1</a:t>
            </a:r>
          </a:p>
          <a:p>
            <a:pPr>
              <a:spcBef>
                <a:spcPts val="400"/>
              </a:spcBef>
            </a:pPr>
            <a:r>
              <a:rPr lang="en-GB" sz="1400" dirty="0"/>
              <a:t>college-74jj5/freshness-fruits-and-vegetables		version:1</a:t>
            </a:r>
          </a:p>
          <a:p>
            <a:pPr>
              <a:spcBef>
                <a:spcPts val="400"/>
              </a:spcBef>
            </a:pPr>
            <a:r>
              <a:rPr lang="en-GB" sz="1400" dirty="0"/>
              <a:t>cse299/fruit-and-vegetable				version:1</a:t>
            </a:r>
          </a:p>
          <a:p>
            <a:pPr>
              <a:spcBef>
                <a:spcPts val="400"/>
              </a:spcBef>
            </a:pPr>
            <a:r>
              <a:rPr lang="en-GB" sz="1400" dirty="0"/>
              <a:t>project-6000-agriculture/fruits-and-vegetables-17y0t		version:1</a:t>
            </a:r>
          </a:p>
          <a:p>
            <a:pPr>
              <a:spcBef>
                <a:spcPts val="400"/>
              </a:spcBef>
            </a:pPr>
            <a:r>
              <a:rPr lang="en-GB" sz="1400" dirty="0"/>
              <a:t>michael-ringer/</a:t>
            </a:r>
            <a:r>
              <a:rPr lang="en-GB" sz="1400" dirty="0" err="1"/>
              <a:t>freiburg</a:t>
            </a:r>
            <a:r>
              <a:rPr lang="en-GB" sz="1400" dirty="0"/>
              <a:t>-groceries			version:10</a:t>
            </a:r>
          </a:p>
          <a:p>
            <a:pPr>
              <a:spcBef>
                <a:spcPts val="400"/>
              </a:spcBef>
            </a:pPr>
            <a:r>
              <a:rPr lang="en-GB" sz="1400" dirty="0"/>
              <a:t>nutrilens-qvsz6/food-ingredients-detection-nxe34		version:3</a:t>
            </a:r>
          </a:p>
          <a:p>
            <a:pPr>
              <a:spcBef>
                <a:spcPts val="400"/>
              </a:spcBef>
            </a:pPr>
            <a:r>
              <a:rPr lang="en-GB" sz="1400" dirty="0"/>
              <a:t>test-on9hk/vegetables-</a:t>
            </a:r>
            <a:r>
              <a:rPr lang="en-GB" sz="1400" dirty="0" err="1"/>
              <a:t>kacga</a:t>
            </a:r>
            <a:r>
              <a:rPr lang="en-GB" sz="1400" dirty="0"/>
              <a:t>				version:5</a:t>
            </a:r>
          </a:p>
          <a:p>
            <a:pPr>
              <a:spcBef>
                <a:spcPts val="400"/>
              </a:spcBef>
            </a:pPr>
            <a:r>
              <a:rPr lang="en-GB" sz="1400" dirty="0"/>
              <a:t>food-recipe-ingredient-images-0gnku/food-ingredients-dataset	version:4</a:t>
            </a:r>
          </a:p>
          <a:p>
            <a:pPr>
              <a:spcBef>
                <a:spcPts val="400"/>
              </a:spcBef>
            </a:pPr>
            <a:endParaRPr lang="en-GB" sz="1400" dirty="0"/>
          </a:p>
          <a:p>
            <a:pPr marL="0" indent="0">
              <a:spcBef>
                <a:spcPts val="400"/>
              </a:spcBef>
              <a:buNone/>
            </a:pPr>
            <a:endParaRPr lang="en-GB" sz="1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A5D1B5-E947-2BA4-52A0-BC051A84E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1080" y="6569481"/>
            <a:ext cx="6246681" cy="365125"/>
          </a:xfrm>
        </p:spPr>
        <p:txBody>
          <a:bodyPr/>
          <a:lstStyle/>
          <a:p>
            <a:r>
              <a:rPr lang="en-US" dirty="0"/>
              <a:t>© 2026 </a:t>
            </a:r>
            <a:r>
              <a:rPr lang="en-US" dirty="0" err="1"/>
              <a:t>KitchClick</a:t>
            </a:r>
            <a:r>
              <a:rPr lang="en-US" dirty="0"/>
              <a:t>. All rights reserved. Unauthorized use or reproduction is prohibited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8EADDE-5046-014F-7A12-92756854A2E1}"/>
              </a:ext>
            </a:extLst>
          </p:cNvPr>
          <p:cNvSpPr txBox="1"/>
          <p:nvPr/>
        </p:nvSpPr>
        <p:spPr>
          <a:xfrm>
            <a:off x="838200" y="5227172"/>
            <a:ext cx="8956651" cy="948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Data Sources for Unlabeled Ingredient Images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1400" dirty="0">
                <a:hlinkClick r:id="rId2"/>
              </a:rPr>
              <a:t>https://world.openfoodfacts.org/cgi/search.pl</a:t>
            </a:r>
            <a:r>
              <a:rPr lang="en-GB" sz="1400" dirty="0"/>
              <a:t>		(Food Products Database)</a:t>
            </a:r>
          </a:p>
          <a:p>
            <a:pPr>
              <a:spcBef>
                <a:spcPts val="400"/>
              </a:spcBef>
            </a:pPr>
            <a:r>
              <a:rPr lang="en-GB" sz="1100" dirty="0"/>
              <a:t>				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306125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A6621-979F-9ED7-EB37-126F07CC0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Challenges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6E50E-E35B-5BAC-538A-2EE8A6882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Finding quality images for image scanning</a:t>
            </a:r>
          </a:p>
          <a:p>
            <a:r>
              <a:rPr lang="en-US" dirty="0"/>
              <a:t>Mapping labels to consistent ids across varied image sources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03A7BE-9310-49AE-07A7-08B7DF275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77962" y="6576356"/>
            <a:ext cx="5978549" cy="365125"/>
          </a:xfrm>
        </p:spPr>
        <p:txBody>
          <a:bodyPr/>
          <a:lstStyle/>
          <a:p>
            <a:r>
              <a:rPr lang="en-US" dirty="0"/>
              <a:t>© 2026 </a:t>
            </a:r>
            <a:r>
              <a:rPr lang="en-US" dirty="0" err="1"/>
              <a:t>KitchClick</a:t>
            </a:r>
            <a:r>
              <a:rPr lang="en-US" dirty="0"/>
              <a:t>. All rights reserved. Unauthorized use or reproduction is prohibited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0978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AA52F-66F4-16EF-6485-4E370658C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54141-FF03-5DD1-1CA3-2C8C14AEC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Moving Forward – The Next Steps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ECED4-E379-083E-09B4-09DC69FDE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Moving all the model and business logic into webservices</a:t>
            </a:r>
          </a:p>
          <a:p>
            <a:r>
              <a:rPr lang="en-US" dirty="0"/>
              <a:t>Building a cleaner/simpler UI</a:t>
            </a:r>
          </a:p>
          <a:p>
            <a:r>
              <a:rPr lang="en-US" dirty="0"/>
              <a:t>Building UI out on multiple platforms – web, mobile, Android, iPhone</a:t>
            </a:r>
          </a:p>
          <a:p>
            <a:r>
              <a:rPr lang="en-US" dirty="0"/>
              <a:t>YoloV8 increase the number of ingredient types currently trained on only 12 classes</a:t>
            </a:r>
          </a:p>
          <a:p>
            <a:r>
              <a:rPr lang="en-US" dirty="0"/>
              <a:t>Continue investigating dependable image sources for model training</a:t>
            </a:r>
          </a:p>
          <a:p>
            <a:r>
              <a:rPr lang="en-US" dirty="0"/>
              <a:t>Removing pre-canned selection of ingredients and relying more on ingredient classification</a:t>
            </a:r>
          </a:p>
          <a:p>
            <a:r>
              <a:rPr lang="en-US" dirty="0"/>
              <a:t>Optimization</a:t>
            </a:r>
          </a:p>
          <a:p>
            <a:r>
              <a:rPr lang="en-US" dirty="0" err="1"/>
              <a:t>Occusion</a:t>
            </a:r>
            <a:r>
              <a:rPr lang="en-US" dirty="0"/>
              <a:t> Training</a:t>
            </a:r>
          </a:p>
          <a:p>
            <a:r>
              <a:rPr lang="en-US" dirty="0"/>
              <a:t>How to handle niche/specialty/unknown items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30B07A-968B-4856-61F3-1E935F7C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77962" y="6576356"/>
            <a:ext cx="5978549" cy="365125"/>
          </a:xfrm>
        </p:spPr>
        <p:txBody>
          <a:bodyPr/>
          <a:lstStyle/>
          <a:p>
            <a:r>
              <a:rPr lang="en-US" dirty="0"/>
              <a:t>© 2026 </a:t>
            </a:r>
            <a:r>
              <a:rPr lang="en-US" dirty="0" err="1"/>
              <a:t>KitchClick</a:t>
            </a:r>
            <a:r>
              <a:rPr lang="en-US" dirty="0"/>
              <a:t>. All rights reserved. Unauthorized use or reproduction is prohibited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230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9660D-68CD-D4E8-ED71-F0115B914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45D59-7F78-421C-7F0C-58117A9CB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7CD25F-E932-7B91-A002-8E78CE570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23555" y="6548451"/>
            <a:ext cx="6027484" cy="365125"/>
          </a:xfrm>
        </p:spPr>
        <p:txBody>
          <a:bodyPr/>
          <a:lstStyle/>
          <a:p>
            <a:r>
              <a:rPr lang="en-US" dirty="0"/>
              <a:t>© 2026 </a:t>
            </a:r>
            <a:r>
              <a:rPr lang="en-US" dirty="0" err="1"/>
              <a:t>KitchClick</a:t>
            </a:r>
            <a:r>
              <a:rPr lang="en-US" dirty="0"/>
              <a:t>. All rights reserved. Unauthorized use or reproduction is prohibited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0227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ED87B-0845-A4E8-A406-E00683105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811FF285-274D-733D-8261-B67BC4EC90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662" y="1825625"/>
            <a:ext cx="8702676" cy="435133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26FAEA-D5E3-9390-BB8C-7CE0EEABD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KitchClick. All rights reserved. Unauthorized use or reproduction is prohibited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6929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9677F-8CB7-3319-E1BC-0F2ADBB98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1E2608E-B334-AD59-BCCC-63103F69BE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496" y="1825625"/>
            <a:ext cx="6527007" cy="435133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D4107A-EE91-3E06-563F-0615134BF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KitchClick. All rights reserved. Unauthorized use or reproduction is prohibited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6161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B54F7-F040-DDEF-F28F-00E002729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856ED60-3B69-AD46-FF95-71DE9A44F4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F72FA1-6046-1D68-86F6-09C4A1EFC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KitchClick. All rights reserved. Unauthorized use or reproduction is prohibited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8340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1F185-C097-DDBA-D5FE-DF40267A1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Data.yaml</a:t>
            </a:r>
            <a:r>
              <a:rPr lang="en-US" dirty="0"/>
              <a:t> – Ingredient Label to ID Mapping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D5C54-5941-3569-73AC-42704D818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19" y="1612494"/>
            <a:ext cx="10515600" cy="4351338"/>
          </a:xfrm>
        </p:spPr>
        <p:txBody>
          <a:bodyPr>
            <a:noAutofit/>
          </a:bodyPr>
          <a:lstStyle/>
          <a:p>
            <a:pPr>
              <a:spcBef>
                <a:spcPts val="400"/>
              </a:spcBef>
            </a:pPr>
            <a:r>
              <a:rPr lang="en-GB" b="1" dirty="0"/>
              <a:t>names:</a:t>
            </a:r>
          </a:p>
          <a:p>
            <a:pPr>
              <a:spcBef>
                <a:spcPts val="400"/>
              </a:spcBef>
            </a:pPr>
            <a:r>
              <a:rPr lang="en-GB" sz="1800" dirty="0"/>
              <a:t>  0: Carrot</a:t>
            </a:r>
          </a:p>
          <a:p>
            <a:pPr>
              <a:spcBef>
                <a:spcPts val="400"/>
              </a:spcBef>
            </a:pPr>
            <a:r>
              <a:rPr lang="en-GB" sz="1800" dirty="0"/>
              <a:t>  1: Broccoli</a:t>
            </a:r>
          </a:p>
          <a:p>
            <a:pPr>
              <a:spcBef>
                <a:spcPts val="400"/>
              </a:spcBef>
            </a:pPr>
            <a:r>
              <a:rPr lang="en-GB" sz="1800" dirty="0"/>
              <a:t>  2: Bell pepper</a:t>
            </a:r>
          </a:p>
          <a:p>
            <a:pPr>
              <a:spcBef>
                <a:spcPts val="400"/>
              </a:spcBef>
            </a:pPr>
            <a:r>
              <a:rPr lang="en-GB" sz="1800" dirty="0"/>
              <a:t>  3: Tomato</a:t>
            </a:r>
          </a:p>
          <a:p>
            <a:pPr>
              <a:spcBef>
                <a:spcPts val="400"/>
              </a:spcBef>
            </a:pPr>
            <a:r>
              <a:rPr lang="en-GB" sz="1800" dirty="0"/>
              <a:t>  4: Lemon</a:t>
            </a:r>
          </a:p>
          <a:p>
            <a:pPr>
              <a:spcBef>
                <a:spcPts val="400"/>
              </a:spcBef>
            </a:pPr>
            <a:r>
              <a:rPr lang="en-GB" sz="1800" dirty="0"/>
              <a:t>  5: Corn</a:t>
            </a:r>
          </a:p>
          <a:p>
            <a:pPr>
              <a:spcBef>
                <a:spcPts val="400"/>
              </a:spcBef>
            </a:pPr>
            <a:r>
              <a:rPr lang="en-GB" sz="1800" dirty="0"/>
              <a:t>  6: Eggplant</a:t>
            </a:r>
          </a:p>
          <a:p>
            <a:pPr>
              <a:spcBef>
                <a:spcPts val="400"/>
              </a:spcBef>
            </a:pPr>
            <a:r>
              <a:rPr lang="en-GB" sz="1800" dirty="0"/>
              <a:t>  7: Cucumber</a:t>
            </a:r>
          </a:p>
          <a:p>
            <a:pPr>
              <a:spcBef>
                <a:spcPts val="400"/>
              </a:spcBef>
            </a:pPr>
            <a:r>
              <a:rPr lang="en-GB" sz="1800" dirty="0"/>
              <a:t>  8: Onion</a:t>
            </a:r>
          </a:p>
          <a:p>
            <a:pPr>
              <a:spcBef>
                <a:spcPts val="400"/>
              </a:spcBef>
            </a:pPr>
            <a:r>
              <a:rPr lang="en-GB" sz="1800" dirty="0"/>
              <a:t>  9: Potato</a:t>
            </a:r>
          </a:p>
          <a:p>
            <a:pPr>
              <a:spcBef>
                <a:spcPts val="400"/>
              </a:spcBef>
            </a:pPr>
            <a:r>
              <a:rPr lang="en-GB" sz="1800" dirty="0"/>
              <a:t>  10: Mushroom</a:t>
            </a:r>
          </a:p>
          <a:p>
            <a:pPr>
              <a:spcBef>
                <a:spcPts val="400"/>
              </a:spcBef>
            </a:pPr>
            <a:r>
              <a:rPr lang="en-GB" sz="1800" dirty="0"/>
              <a:t>  11: Avocado</a:t>
            </a:r>
          </a:p>
          <a:p>
            <a:pPr>
              <a:spcBef>
                <a:spcPts val="400"/>
              </a:spcBef>
            </a:pPr>
            <a:br>
              <a:rPr lang="en-GB" sz="1800" dirty="0"/>
            </a:br>
            <a:endParaRPr lang="en-GB" sz="1800" dirty="0"/>
          </a:p>
          <a:p>
            <a:endParaRPr lang="en-GB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E4F5E-6A9B-91E6-B70F-E4018A4C0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2026 KitchClick. All rights reserved. Unauthorized use or reproduction is prohibited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43318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B8772-BFF6-77E1-C43E-51FE6F4D4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Classifications Examples</a:t>
            </a:r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367CA70-18C6-51D5-DD87-2B7BA53FB8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E7907D-0DE2-CBE7-276F-A3231BDA6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4721" y="6492875"/>
            <a:ext cx="6480842" cy="365125"/>
          </a:xfrm>
        </p:spPr>
        <p:txBody>
          <a:bodyPr/>
          <a:lstStyle/>
          <a:p>
            <a:r>
              <a:rPr lang="en-US" dirty="0"/>
              <a:t>© 2026 </a:t>
            </a:r>
            <a:r>
              <a:rPr lang="en-US" dirty="0" err="1"/>
              <a:t>KitchClick</a:t>
            </a:r>
            <a:r>
              <a:rPr lang="en-US" dirty="0"/>
              <a:t>. All rights reserved. Unauthorized use or reproduction is prohibited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8197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631</Words>
  <Application>Microsoft Office PowerPoint</Application>
  <PresentationFormat>Widescreen</PresentationFormat>
  <Paragraphs>91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A Pantry To Table Recipe App</vt:lpstr>
      <vt:lpstr>Who am I?</vt:lpstr>
      <vt:lpstr>KitchClick – What is it?</vt:lpstr>
      <vt:lpstr>Architectural Overview</vt:lpstr>
      <vt:lpstr>Architectural Details</vt:lpstr>
      <vt:lpstr>Models</vt:lpstr>
      <vt:lpstr>Model Performance</vt:lpstr>
      <vt:lpstr>The KitchClick Application</vt:lpstr>
      <vt:lpstr>Image Data Sources</vt:lpstr>
      <vt:lpstr>Challenges</vt:lpstr>
      <vt:lpstr>Moving Forward – The Next Steps</vt:lpstr>
      <vt:lpstr>PowerPoint Presentation</vt:lpstr>
      <vt:lpstr>PowerPoint Presentation</vt:lpstr>
      <vt:lpstr>PowerPoint Presentation</vt:lpstr>
      <vt:lpstr>PowerPoint Presentation</vt:lpstr>
      <vt:lpstr>Data.yaml – Ingredient Label to ID Mapping</vt:lpstr>
      <vt:lpstr>Image Classifications 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Buczkowski</dc:creator>
  <cp:lastModifiedBy>John Buczkowski</cp:lastModifiedBy>
  <cp:revision>29</cp:revision>
  <dcterms:created xsi:type="dcterms:W3CDTF">2026-04-20T03:50:34Z</dcterms:created>
  <dcterms:modified xsi:type="dcterms:W3CDTF">2026-04-20T07:12:16Z</dcterms:modified>
</cp:coreProperties>
</file>